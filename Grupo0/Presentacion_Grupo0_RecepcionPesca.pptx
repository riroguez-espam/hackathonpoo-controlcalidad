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306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logo-esp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731520"/>
            <a:ext cx="2304288" cy="8229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22960" y="1828800"/>
            <a:ext cx="3931920" cy="384048"/>
          </a:xfrm>
          <a:prstGeom prst="roundRect">
            <a:avLst/>
          </a:prstGeom>
          <a:solidFill>
            <a:srgbClr val="004D33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HACKATHON POO • GRUPO 0 (MODELO)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10607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Sistema de Recepción Pesquera</a:t>
            </a:r>
          </a:p>
          <a:p>
            <a:pPr>
              <a:defRPr sz="1700">
                <a:solidFill>
                  <a:srgbClr val="A7F3D0"/>
                </a:solidFill>
              </a:defRPr>
            </a:pPr>
            <a:r>
              <a:t>Sustentación en 3 Pilares: Método SCQA • Arquitectura POO • Demostración IDE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480560"/>
            <a:ext cx="10545775" cy="15544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tlCol="0" anchor="ctr"/>
          <a:lstStyle/>
          <a:p>
            <a:pPr algn="ctr">
              <a:defRPr sz="1100" b="1">
                <a:solidFill>
                  <a:srgbClr val="059669"/>
                </a:solidFill>
              </a:defRPr>
            </a:pPr>
            <a:r>
              <a:t>DATOS DE LA SUSTENTACIÓN</a:t>
            </a:r>
          </a:p>
          <a:p>
            <a:pPr>
              <a:defRPr sz="1300">
                <a:solidFill>
                  <a:srgbClr val="E2E8F0"/>
                </a:solidFill>
              </a:defRPr>
            </a:pPr>
            <a:r>
              <a:t>• Docente Expositor: Ing. Luiggi Alexander Jalca Saltos</a:t>
            </a:r>
            <a:br/>
            <a:r>
              <a:t>• Asignatura: Programación Orientada a Objetos (CDS-0201) — Segundo Semestre "A"</a:t>
            </a:r>
            <a:br/>
            <a:r>
              <a:t>• Formato: Pitch Ejecutivo de 10 Minutos (Miércoles 14/10/2026)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PILAR 1 • PRESENTACIÓN DEL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4D33"/>
                </a:solidFill>
              </a:defRPr>
            </a:pPr>
            <a:r>
              <a:t>Planteamiento con el Método SCQA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ESPAM MFL • POO (CDS-0201) • HackathonPOO Grupo 0 (Docente Modelo)                                                                2 /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5285232" cy="2148840"/>
          </a:xfrm>
          <a:prstGeom prst="roundRect">
            <a:avLst/>
          </a:prstGeom>
          <a:solidFill>
            <a:srgbClr val="EEF2FF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rtlCol="0" anchor="ctr"/>
          <a:lstStyle/>
          <a:p>
            <a:pPr algn="ctr">
              <a:defRPr sz="1400" b="1">
                <a:solidFill>
                  <a:srgbClr val="4F46E5"/>
                </a:solidFill>
              </a:defRPr>
            </a:pPr>
            <a:r>
              <a:rPr dirty="0"/>
              <a:t>S • </a:t>
            </a:r>
            <a:r>
              <a:rPr dirty="0" err="1"/>
              <a:t>Situación</a:t>
            </a:r>
            <a:endParaRPr dirty="0"/>
          </a:p>
          <a:p>
            <a:br>
              <a:rPr dirty="0">
                <a:solidFill>
                  <a:schemeClr val="tx1"/>
                </a:solidFill>
              </a:rPr>
            </a:br>
            <a:r>
              <a:rPr dirty="0" err="1">
                <a:solidFill>
                  <a:schemeClr val="tx1"/>
                </a:solidFill>
              </a:rPr>
              <a:t>Descarga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diaria</a:t>
            </a:r>
            <a:r>
              <a:rPr dirty="0">
                <a:solidFill>
                  <a:schemeClr val="tx1"/>
                </a:solidFill>
              </a:rPr>
              <a:t> y continua de </a:t>
            </a:r>
            <a:r>
              <a:rPr dirty="0" err="1">
                <a:solidFill>
                  <a:schemeClr val="tx1"/>
                </a:solidFill>
              </a:rPr>
              <a:t>atún</a:t>
            </a:r>
            <a:r>
              <a:rPr dirty="0">
                <a:solidFill>
                  <a:schemeClr val="tx1"/>
                </a:solidFill>
              </a:rPr>
              <a:t> fresco </a:t>
            </a:r>
            <a:r>
              <a:rPr dirty="0" err="1">
                <a:solidFill>
                  <a:schemeClr val="tx1"/>
                </a:solidFill>
              </a:rPr>
              <a:t>en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andén</a:t>
            </a:r>
            <a:r>
              <a:rPr dirty="0">
                <a:solidFill>
                  <a:schemeClr val="tx1"/>
                </a:solidFill>
              </a:rPr>
              <a:t> de planta </a:t>
            </a:r>
            <a:r>
              <a:rPr dirty="0" err="1">
                <a:solidFill>
                  <a:schemeClr val="tx1"/>
                </a:solidFill>
              </a:rPr>
              <a:t>desde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barcos</a:t>
            </a:r>
            <a:r>
              <a:rPr dirty="0">
                <a:solidFill>
                  <a:schemeClr val="tx1"/>
                </a:solidFill>
              </a:rPr>
              <a:t> y </a:t>
            </a:r>
            <a:r>
              <a:rPr dirty="0" err="1">
                <a:solidFill>
                  <a:schemeClr val="tx1"/>
                </a:solidFill>
              </a:rPr>
              <a:t>camiones</a:t>
            </a:r>
            <a:r>
              <a:rPr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463040"/>
            <a:ext cx="5285232" cy="214884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rtlCol="0" anchor="ctr"/>
          <a:lstStyle/>
          <a:p>
            <a:pPr algn="ctr">
              <a:defRPr sz="1400" b="1">
                <a:solidFill>
                  <a:srgbClr val="E11D48"/>
                </a:solidFill>
              </a:defRPr>
            </a:pPr>
            <a:r>
              <a:rPr dirty="0"/>
              <a:t>C • </a:t>
            </a:r>
            <a:r>
              <a:rPr dirty="0" err="1"/>
              <a:t>Complicación</a:t>
            </a:r>
            <a:endParaRPr dirty="0"/>
          </a:p>
          <a:p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Registro manual </a:t>
            </a:r>
            <a:r>
              <a:rPr dirty="0" err="1">
                <a:solidFill>
                  <a:schemeClr val="tx1"/>
                </a:solidFill>
              </a:rPr>
              <a:t>en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papel</a:t>
            </a:r>
            <a:r>
              <a:rPr dirty="0">
                <a:solidFill>
                  <a:schemeClr val="tx1"/>
                </a:solidFill>
              </a:rPr>
              <a:t>, </a:t>
            </a:r>
            <a:r>
              <a:rPr dirty="0" err="1">
                <a:solidFill>
                  <a:schemeClr val="tx1"/>
                </a:solidFill>
              </a:rPr>
              <a:t>riesgo</a:t>
            </a:r>
            <a:r>
              <a:rPr dirty="0">
                <a:solidFill>
                  <a:schemeClr val="tx1"/>
                </a:solidFill>
              </a:rPr>
              <a:t> de </a:t>
            </a:r>
            <a:r>
              <a:rPr dirty="0" err="1">
                <a:solidFill>
                  <a:schemeClr val="tx1"/>
                </a:solidFill>
              </a:rPr>
              <a:t>operarios</a:t>
            </a:r>
            <a:r>
              <a:rPr dirty="0">
                <a:solidFill>
                  <a:schemeClr val="tx1"/>
                </a:solidFill>
              </a:rPr>
              <a:t> sin </a:t>
            </a:r>
            <a:r>
              <a:rPr dirty="0" err="1">
                <a:solidFill>
                  <a:schemeClr val="tx1"/>
                </a:solidFill>
              </a:rPr>
              <a:t>edad</a:t>
            </a:r>
            <a:r>
              <a:rPr dirty="0">
                <a:solidFill>
                  <a:schemeClr val="tx1"/>
                </a:solidFill>
              </a:rPr>
              <a:t> legal y tinas fuera de </a:t>
            </a:r>
            <a:r>
              <a:rPr dirty="0" err="1">
                <a:solidFill>
                  <a:schemeClr val="tx1"/>
                </a:solidFill>
              </a:rPr>
              <a:t>calibre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que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generan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pérdidas</a:t>
            </a:r>
            <a:r>
              <a:rPr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5285232" cy="2148840"/>
          </a:xfrm>
          <a:prstGeom prst="roundRect">
            <a:avLst/>
          </a:prstGeom>
          <a:solidFill>
            <a:srgbClr val="FFFBEB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rtlCol="0" anchor="ctr"/>
          <a:lstStyle/>
          <a:p>
            <a:pPr algn="ctr">
              <a:defRPr sz="1400" b="1">
                <a:solidFill>
                  <a:srgbClr val="D97706"/>
                </a:solidFill>
              </a:defRPr>
            </a:pPr>
            <a:r>
              <a:rPr dirty="0"/>
              <a:t>Q • </a:t>
            </a:r>
            <a:r>
              <a:rPr dirty="0" err="1"/>
              <a:t>Pregunta</a:t>
            </a:r>
            <a:endParaRPr dirty="0"/>
          </a:p>
          <a:p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¿</a:t>
            </a:r>
            <a:r>
              <a:rPr dirty="0" err="1">
                <a:solidFill>
                  <a:schemeClr val="tx1"/>
                </a:solidFill>
              </a:rPr>
              <a:t>Cómo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validar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en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tiempo</a:t>
            </a:r>
            <a:r>
              <a:rPr dirty="0">
                <a:solidFill>
                  <a:schemeClr val="tx1"/>
                </a:solidFill>
              </a:rPr>
              <a:t> real </a:t>
            </a:r>
            <a:r>
              <a:rPr dirty="0" err="1">
                <a:solidFill>
                  <a:schemeClr val="tx1"/>
                </a:solidFill>
              </a:rPr>
              <a:t>el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pesaje</a:t>
            </a:r>
            <a:r>
              <a:rPr dirty="0">
                <a:solidFill>
                  <a:schemeClr val="tx1"/>
                </a:solidFill>
              </a:rPr>
              <a:t> de </a:t>
            </a:r>
            <a:r>
              <a:rPr dirty="0" err="1">
                <a:solidFill>
                  <a:schemeClr val="tx1"/>
                </a:solidFill>
              </a:rPr>
              <a:t>balanzas</a:t>
            </a:r>
            <a:r>
              <a:rPr dirty="0">
                <a:solidFill>
                  <a:schemeClr val="tx1"/>
                </a:solidFill>
              </a:rPr>
              <a:t> IP y </a:t>
            </a:r>
            <a:r>
              <a:rPr dirty="0" err="1">
                <a:solidFill>
                  <a:schemeClr val="tx1"/>
                </a:solidFill>
              </a:rPr>
              <a:t>asegurar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trazabilidad</a:t>
            </a:r>
            <a:r>
              <a:rPr dirty="0">
                <a:solidFill>
                  <a:schemeClr val="tx1"/>
                </a:solidFill>
              </a:rPr>
              <a:t> total del </a:t>
            </a:r>
            <a:r>
              <a:rPr dirty="0" err="1">
                <a:solidFill>
                  <a:schemeClr val="tx1"/>
                </a:solidFill>
              </a:rPr>
              <a:t>producto</a:t>
            </a:r>
            <a:r>
              <a:rPr dirty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3840480"/>
            <a:ext cx="5285232" cy="2148840"/>
          </a:xfrm>
          <a:prstGeom prst="roundRect">
            <a:avLst/>
          </a:prstGeom>
          <a:solidFill>
            <a:srgbClr val="ECFDF5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74320" rtlCol="0" anchor="ctr"/>
          <a:lstStyle/>
          <a:p>
            <a:pPr algn="ctr">
              <a:defRPr sz="1400" b="1">
                <a:solidFill>
                  <a:srgbClr val="059669"/>
                </a:solidFill>
              </a:defRPr>
            </a:pPr>
            <a:r>
              <a:rPr dirty="0"/>
              <a:t>A • Respuesta</a:t>
            </a:r>
          </a:p>
          <a:p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Sistema POO </a:t>
            </a:r>
            <a:r>
              <a:rPr dirty="0" err="1">
                <a:solidFill>
                  <a:schemeClr val="tx1"/>
                </a:solidFill>
              </a:rPr>
              <a:t>en</a:t>
            </a:r>
            <a:r>
              <a:rPr dirty="0">
                <a:solidFill>
                  <a:schemeClr val="tx1"/>
                </a:solidFill>
              </a:rPr>
              <a:t> Java con 7 </a:t>
            </a:r>
            <a:r>
              <a:rPr dirty="0" err="1">
                <a:solidFill>
                  <a:schemeClr val="tx1"/>
                </a:solidFill>
              </a:rPr>
              <a:t>clases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encapsuladas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que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bloquean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pesajes</a:t>
            </a:r>
            <a:r>
              <a:rPr dirty="0">
                <a:solidFill>
                  <a:schemeClr val="tx1"/>
                </a:solidFill>
              </a:rPr>
              <a:t> fuera de </a:t>
            </a:r>
            <a:r>
              <a:rPr dirty="0" err="1">
                <a:solidFill>
                  <a:schemeClr val="tx1"/>
                </a:solidFill>
              </a:rPr>
              <a:t>rango</a:t>
            </a:r>
            <a:r>
              <a:rPr dirty="0">
                <a:solidFill>
                  <a:schemeClr val="tx1"/>
                </a:solidFill>
              </a:rPr>
              <a:t> y </a:t>
            </a:r>
            <a:r>
              <a:rPr dirty="0" err="1">
                <a:solidFill>
                  <a:schemeClr val="tx1"/>
                </a:solidFill>
              </a:rPr>
              <a:t>protegen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el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lote</a:t>
            </a:r>
            <a:r>
              <a:rPr dirty="0">
                <a:solidFill>
                  <a:schemeClr val="tx1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PILAR 1 • DEL MUNDO FÍSICO AL SOFTWARE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4D33"/>
                </a:solidFill>
              </a:defRPr>
            </a:pPr>
            <a:r>
              <a:t>Flujo Operativo de Recepción en Planta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ESPAM MFL • POO (CDS-0201) • HackathonPOO Grupo 0 (Docente Modelo)                                                                3 / 5</a:t>
            </a:r>
          </a:p>
        </p:txBody>
      </p:sp>
      <p:pic>
        <p:nvPicPr>
          <p:cNvPr id="6" name="Picture 5" descr="flujo_recepcion_pesc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417320"/>
            <a:ext cx="6583680" cy="466344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498079" y="1417320"/>
            <a:ext cx="3962095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rtlCol="0" anchor="ctr"/>
          <a:lstStyle/>
          <a:p>
            <a:pPr algn="ctr">
              <a:defRPr sz="1200" b="1">
                <a:solidFill>
                  <a:srgbClr val="004D33"/>
                </a:solidFill>
              </a:defRPr>
            </a:pPr>
            <a:r>
              <a:t>1. Buque y Camión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Trazabilidad de origen (Barco Santa Isabel, placa vehicular).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79" y="2624328"/>
            <a:ext cx="3962095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rtlCol="0" anchor="ctr"/>
          <a:lstStyle/>
          <a:p>
            <a:pPr algn="ctr">
              <a:defRPr sz="1200" b="1">
                <a:solidFill>
                  <a:srgbClr val="004D33"/>
                </a:solidFill>
              </a:defRPr>
            </a:pPr>
            <a:r>
              <a:t>2. Balanza Industrial IP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Conexión de red que simula lecturas de peso bruto (70 a 120 Lb).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98079" y="3831336"/>
            <a:ext cx="3962095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rtlCol="0" anchor="ctr"/>
          <a:lstStyle/>
          <a:p>
            <a:pPr algn="ctr">
              <a:defRPr sz="1200" b="1">
                <a:solidFill>
                  <a:srgbClr val="004D33"/>
                </a:solidFill>
              </a:defRPr>
            </a:pPr>
            <a:r>
              <a:t>3. Rango de Producto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Parámetros de especie (Albacora: mínimo 70 Lb, máximo 120 Lb).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98079" y="5038344"/>
            <a:ext cx="3962095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Ins="182880" rtlCol="0" anchor="ctr"/>
          <a:lstStyle/>
          <a:p>
            <a:pPr algn="ctr">
              <a:defRPr sz="1200" b="1">
                <a:solidFill>
                  <a:srgbClr val="004D33"/>
                </a:solidFill>
              </a:defRPr>
            </a:pPr>
            <a:r>
              <a:t>4. Digitador y Remesa</a:t>
            </a:r>
          </a:p>
          <a:p>
            <a:pPr>
              <a:defRPr sz="1100">
                <a:solidFill>
                  <a:srgbClr val="1E293B"/>
                </a:solidFill>
              </a:defRPr>
            </a:pPr>
            <a:r>
              <a:t>Operador mayor de 18 años consolida las tinas válidas del lote.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PILAR 2 • ESTRUCTURA DEL CÓDIGO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4D33"/>
                </a:solidFill>
              </a:defRPr>
            </a:pPr>
            <a:r>
              <a:t>Arquitectura Orientada a Objetos e Invariantes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ESPAM MFL • POO (CDS-0201) • HackathonPOO Grupo 0 (Docente Modelo)                                                                4 /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47472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rtlCol="0" anchor="ctr"/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rPr dirty="0"/>
              <a:t>Barco &amp; Camion</a:t>
            </a:r>
          </a:p>
          <a:p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Datos de </a:t>
            </a:r>
            <a:r>
              <a:rPr dirty="0" err="1">
                <a:solidFill>
                  <a:schemeClr val="tx1"/>
                </a:solidFill>
              </a:rPr>
              <a:t>origen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marítimo</a:t>
            </a:r>
            <a:r>
              <a:rPr dirty="0">
                <a:solidFill>
                  <a:schemeClr val="tx1"/>
                </a:solidFill>
              </a:rPr>
              <a:t> y </a:t>
            </a:r>
            <a:r>
              <a:rPr dirty="0" err="1">
                <a:solidFill>
                  <a:schemeClr val="tx1"/>
                </a:solidFill>
              </a:rPr>
              <a:t>placa</a:t>
            </a:r>
            <a:r>
              <a:rPr dirty="0">
                <a:solidFill>
                  <a:schemeClr val="tx1"/>
                </a:solidFill>
              </a:rPr>
              <a:t> vehicular.</a:t>
            </a:r>
          </a:p>
          <a:p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🛡 </a:t>
            </a:r>
            <a:r>
              <a:rPr dirty="0" err="1">
                <a:solidFill>
                  <a:schemeClr val="tx1"/>
                </a:solidFill>
              </a:rPr>
              <a:t>Invariante</a:t>
            </a:r>
            <a:r>
              <a:rPr dirty="0">
                <a:solidFill>
                  <a:schemeClr val="tx1"/>
                </a:solidFill>
              </a:rPr>
              <a:t>: Campos no </a:t>
            </a:r>
            <a:r>
              <a:rPr dirty="0" err="1">
                <a:solidFill>
                  <a:schemeClr val="tx1"/>
                </a:solidFill>
              </a:rPr>
              <a:t>vacíos</a:t>
            </a:r>
            <a:r>
              <a:rPr dirty="0">
                <a:solidFill>
                  <a:schemeClr val="tx1"/>
                </a:solidFill>
              </a:rPr>
              <a:t>, </a:t>
            </a:r>
            <a:r>
              <a:rPr dirty="0" err="1">
                <a:solidFill>
                  <a:schemeClr val="tx1"/>
                </a:solidFill>
              </a:rPr>
              <a:t>año</a:t>
            </a:r>
            <a:r>
              <a:rPr dirty="0">
                <a:solidFill>
                  <a:schemeClr val="tx1"/>
                </a:solidFill>
              </a:rPr>
              <a:t> &gt; 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463040"/>
            <a:ext cx="347472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rtlCol="0" anchor="ctr"/>
          <a:lstStyle/>
          <a:p>
            <a:pPr algn="ctr">
              <a:defRPr sz="1400" b="1">
                <a:solidFill>
                  <a:srgbClr val="059669"/>
                </a:solidFill>
              </a:defRPr>
            </a:pPr>
            <a:r>
              <a:rPr dirty="0" err="1"/>
              <a:t>Digitador</a:t>
            </a:r>
            <a:endParaRPr dirty="0"/>
          </a:p>
          <a:p>
            <a:br>
              <a:rPr dirty="0">
                <a:solidFill>
                  <a:schemeClr val="tx1"/>
                </a:solidFill>
              </a:rPr>
            </a:br>
            <a:r>
              <a:rPr dirty="0" err="1">
                <a:solidFill>
                  <a:schemeClr val="tx1"/>
                </a:solidFill>
              </a:rPr>
              <a:t>Operador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responsable</a:t>
            </a:r>
            <a:r>
              <a:rPr dirty="0">
                <a:solidFill>
                  <a:schemeClr val="tx1"/>
                </a:solidFill>
              </a:rPr>
              <a:t> del </a:t>
            </a:r>
            <a:r>
              <a:rPr dirty="0" err="1">
                <a:solidFill>
                  <a:schemeClr val="tx1"/>
                </a:solidFill>
              </a:rPr>
              <a:t>ingreso</a:t>
            </a:r>
            <a:r>
              <a:rPr dirty="0">
                <a:solidFill>
                  <a:schemeClr val="tx1"/>
                </a:solidFill>
              </a:rPr>
              <a:t> de </a:t>
            </a:r>
            <a:r>
              <a:rPr dirty="0" err="1">
                <a:solidFill>
                  <a:schemeClr val="tx1"/>
                </a:solidFill>
              </a:rPr>
              <a:t>datos</a:t>
            </a:r>
            <a:r>
              <a:rPr dirty="0">
                <a:solidFill>
                  <a:schemeClr val="tx1"/>
                </a:solidFill>
              </a:rPr>
              <a:t>.</a:t>
            </a:r>
          </a:p>
          <a:p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🛡 </a:t>
            </a:r>
            <a:r>
              <a:rPr dirty="0" err="1">
                <a:solidFill>
                  <a:schemeClr val="tx1"/>
                </a:solidFill>
              </a:rPr>
              <a:t>Invariante</a:t>
            </a:r>
            <a:r>
              <a:rPr dirty="0">
                <a:solidFill>
                  <a:schemeClr val="tx1"/>
                </a:solidFill>
              </a:rPr>
              <a:t>: Edad </a:t>
            </a:r>
            <a:r>
              <a:rPr dirty="0" err="1">
                <a:solidFill>
                  <a:schemeClr val="tx1"/>
                </a:solidFill>
              </a:rPr>
              <a:t>válida</a:t>
            </a:r>
            <a:r>
              <a:rPr dirty="0">
                <a:solidFill>
                  <a:schemeClr val="tx1"/>
                </a:solidFill>
              </a:rPr>
              <a:t> entre 18 y 65 </a:t>
            </a:r>
            <a:r>
              <a:rPr dirty="0" err="1">
                <a:solidFill>
                  <a:schemeClr val="tx1"/>
                </a:solidFill>
              </a:rPr>
              <a:t>años</a:t>
            </a:r>
            <a:r>
              <a:rPr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463040"/>
            <a:ext cx="347472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rtlCol="0" anchor="ctr"/>
          <a:lstStyle/>
          <a:p>
            <a:pPr algn="ctr">
              <a:defRPr sz="1400" b="1">
                <a:solidFill>
                  <a:srgbClr val="D97706"/>
                </a:solidFill>
              </a:defRPr>
            </a:pPr>
            <a:r>
              <a:rPr dirty="0"/>
              <a:t>Balanza</a:t>
            </a:r>
          </a:p>
          <a:p>
            <a:br>
              <a:rPr dirty="0">
                <a:solidFill>
                  <a:schemeClr val="tx1"/>
                </a:solidFill>
              </a:rPr>
            </a:br>
            <a:r>
              <a:rPr dirty="0" err="1">
                <a:solidFill>
                  <a:schemeClr val="tx1"/>
                </a:solidFill>
              </a:rPr>
              <a:t>Dispositivo</a:t>
            </a:r>
            <a:r>
              <a:rPr dirty="0">
                <a:solidFill>
                  <a:schemeClr val="tx1"/>
                </a:solidFill>
              </a:rPr>
              <a:t> de red con </a:t>
            </a:r>
            <a:r>
              <a:rPr dirty="0" err="1">
                <a:solidFill>
                  <a:schemeClr val="tx1"/>
                </a:solidFill>
              </a:rPr>
              <a:t>método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leerPesoActual</a:t>
            </a:r>
            <a:r>
              <a:rPr dirty="0">
                <a:solidFill>
                  <a:schemeClr val="tx1"/>
                </a:solidFill>
              </a:rPr>
              <a:t>().</a:t>
            </a:r>
          </a:p>
          <a:p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🛡 </a:t>
            </a:r>
            <a:r>
              <a:rPr dirty="0" err="1">
                <a:solidFill>
                  <a:schemeClr val="tx1"/>
                </a:solidFill>
              </a:rPr>
              <a:t>Invariante</a:t>
            </a:r>
            <a:r>
              <a:rPr dirty="0">
                <a:solidFill>
                  <a:schemeClr val="tx1"/>
                </a:solidFill>
              </a:rPr>
              <a:t>: Formato de </a:t>
            </a:r>
            <a:r>
              <a:rPr dirty="0" err="1">
                <a:solidFill>
                  <a:schemeClr val="tx1"/>
                </a:solidFill>
              </a:rPr>
              <a:t>dirección</a:t>
            </a:r>
            <a:r>
              <a:rPr dirty="0">
                <a:solidFill>
                  <a:schemeClr val="tx1"/>
                </a:solidFill>
              </a:rPr>
              <a:t> IPv4 </a:t>
            </a:r>
            <a:r>
              <a:rPr dirty="0" err="1">
                <a:solidFill>
                  <a:schemeClr val="tx1"/>
                </a:solidFill>
              </a:rPr>
              <a:t>vía</a:t>
            </a:r>
            <a:r>
              <a:rPr dirty="0">
                <a:solidFill>
                  <a:schemeClr val="tx1"/>
                </a:solidFill>
              </a:rPr>
              <a:t> Regex.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347472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rtlCol="0" anchor="ctr"/>
          <a:lstStyle/>
          <a:p>
            <a:pPr algn="ctr">
              <a:defRPr sz="1400" b="1">
                <a:solidFill>
                  <a:srgbClr val="0284C7"/>
                </a:solidFill>
              </a:defRPr>
            </a:pPr>
            <a:r>
              <a:rPr dirty="0" err="1"/>
              <a:t>Producto</a:t>
            </a:r>
            <a:endParaRPr dirty="0"/>
          </a:p>
          <a:p>
            <a:br>
              <a:rPr dirty="0">
                <a:solidFill>
                  <a:schemeClr val="tx1"/>
                </a:solidFill>
              </a:rPr>
            </a:br>
            <a:r>
              <a:rPr dirty="0" err="1">
                <a:solidFill>
                  <a:schemeClr val="tx1"/>
                </a:solidFill>
              </a:rPr>
              <a:t>Catálogo</a:t>
            </a:r>
            <a:r>
              <a:rPr dirty="0">
                <a:solidFill>
                  <a:schemeClr val="tx1"/>
                </a:solidFill>
              </a:rPr>
              <a:t> con </a:t>
            </a:r>
            <a:r>
              <a:rPr dirty="0" err="1">
                <a:solidFill>
                  <a:schemeClr val="tx1"/>
                </a:solidFill>
              </a:rPr>
              <a:t>límites</a:t>
            </a:r>
            <a:r>
              <a:rPr dirty="0">
                <a:solidFill>
                  <a:schemeClr val="tx1"/>
                </a:solidFill>
              </a:rPr>
              <a:t>: </a:t>
            </a:r>
            <a:r>
              <a:rPr dirty="0" err="1">
                <a:solidFill>
                  <a:schemeClr val="tx1"/>
                </a:solidFill>
              </a:rPr>
              <a:t>pesoMinimo</a:t>
            </a:r>
            <a:r>
              <a:rPr dirty="0">
                <a:solidFill>
                  <a:schemeClr val="tx1"/>
                </a:solidFill>
              </a:rPr>
              <a:t> y </a:t>
            </a:r>
            <a:r>
              <a:rPr dirty="0" err="1">
                <a:solidFill>
                  <a:schemeClr val="tx1"/>
                </a:solidFill>
              </a:rPr>
              <a:t>pesoMaximo</a:t>
            </a:r>
            <a:r>
              <a:rPr dirty="0">
                <a:solidFill>
                  <a:schemeClr val="tx1"/>
                </a:solidFill>
              </a:rPr>
              <a:t>.</a:t>
            </a:r>
          </a:p>
          <a:p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🛡 </a:t>
            </a:r>
            <a:r>
              <a:rPr dirty="0" err="1">
                <a:solidFill>
                  <a:schemeClr val="tx1"/>
                </a:solidFill>
              </a:rPr>
              <a:t>Invariante</a:t>
            </a:r>
            <a:r>
              <a:rPr dirty="0">
                <a:solidFill>
                  <a:schemeClr val="tx1"/>
                </a:solidFill>
              </a:rPr>
              <a:t>: Rango </a:t>
            </a:r>
            <a:r>
              <a:rPr dirty="0" err="1">
                <a:solidFill>
                  <a:schemeClr val="tx1"/>
                </a:solidFill>
              </a:rPr>
              <a:t>comercial</a:t>
            </a:r>
            <a:r>
              <a:rPr dirty="0">
                <a:solidFill>
                  <a:schemeClr val="tx1"/>
                </a:solidFill>
              </a:rPr>
              <a:t> Albacora 70 - 120 Lb.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3840480"/>
            <a:ext cx="347472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rtlCol="0" anchor="ctr"/>
          <a:lstStyle/>
          <a:p>
            <a:pPr algn="ctr">
              <a:defRPr sz="1400" b="1">
                <a:solidFill>
                  <a:srgbClr val="059669"/>
                </a:solidFill>
              </a:defRPr>
            </a:pPr>
            <a:r>
              <a:rPr dirty="0" err="1"/>
              <a:t>RecepcionDetalle</a:t>
            </a:r>
            <a:endParaRPr dirty="0"/>
          </a:p>
          <a:p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Línea de </a:t>
            </a:r>
            <a:r>
              <a:rPr dirty="0" err="1">
                <a:solidFill>
                  <a:schemeClr val="tx1"/>
                </a:solidFill>
              </a:rPr>
              <a:t>pesaje</a:t>
            </a:r>
            <a:r>
              <a:rPr dirty="0">
                <a:solidFill>
                  <a:schemeClr val="tx1"/>
                </a:solidFill>
              </a:rPr>
              <a:t>: </a:t>
            </a:r>
            <a:r>
              <a:rPr dirty="0" err="1">
                <a:solidFill>
                  <a:schemeClr val="tx1"/>
                </a:solidFill>
              </a:rPr>
              <a:t>conecta</a:t>
            </a:r>
            <a:r>
              <a:rPr dirty="0">
                <a:solidFill>
                  <a:schemeClr val="tx1"/>
                </a:solidFill>
              </a:rPr>
              <a:t> Balanza y </a:t>
            </a:r>
            <a:r>
              <a:rPr dirty="0" err="1">
                <a:solidFill>
                  <a:schemeClr val="tx1"/>
                </a:solidFill>
              </a:rPr>
              <a:t>Producto</a:t>
            </a:r>
            <a:r>
              <a:rPr dirty="0">
                <a:solidFill>
                  <a:schemeClr val="tx1"/>
                </a:solidFill>
              </a:rPr>
              <a:t>.</a:t>
            </a:r>
          </a:p>
          <a:p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🛡 </a:t>
            </a:r>
            <a:r>
              <a:rPr dirty="0" err="1">
                <a:solidFill>
                  <a:schemeClr val="tx1"/>
                </a:solidFill>
              </a:rPr>
              <a:t>Invariante</a:t>
            </a:r>
            <a:r>
              <a:rPr dirty="0">
                <a:solidFill>
                  <a:schemeClr val="tx1"/>
                </a:solidFill>
              </a:rPr>
              <a:t>: </a:t>
            </a:r>
            <a:r>
              <a:rPr dirty="0" err="1">
                <a:solidFill>
                  <a:schemeClr val="tx1"/>
                </a:solidFill>
              </a:rPr>
              <a:t>validarPeso</a:t>
            </a:r>
            <a:r>
              <a:rPr dirty="0">
                <a:solidFill>
                  <a:schemeClr val="tx1"/>
                </a:solidFill>
              </a:rPr>
              <a:t>() -&gt; min &lt;= peso &lt;= max.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55280" y="3840480"/>
            <a:ext cx="3474720" cy="2194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4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64592" rIns="182880" rtlCol="0" anchor="ctr"/>
          <a:lstStyle/>
          <a:p>
            <a:pPr algn="ctr">
              <a:defRPr sz="1400" b="1">
                <a:solidFill>
                  <a:srgbClr val="004D33"/>
                </a:solidFill>
              </a:defRPr>
            </a:pPr>
            <a:r>
              <a:rPr dirty="0" err="1"/>
              <a:t>Recepcion</a:t>
            </a:r>
            <a:endParaRPr dirty="0"/>
          </a:p>
          <a:p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Lote maestro con </a:t>
            </a:r>
            <a:r>
              <a:rPr dirty="0" err="1">
                <a:solidFill>
                  <a:schemeClr val="tx1"/>
                </a:solidFill>
              </a:rPr>
              <a:t>lista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consolidada</a:t>
            </a:r>
            <a:r>
              <a:rPr dirty="0">
                <a:solidFill>
                  <a:schemeClr val="tx1"/>
                </a:solidFill>
              </a:rPr>
              <a:t> de </a:t>
            </a:r>
            <a:r>
              <a:rPr dirty="0" err="1">
                <a:solidFill>
                  <a:schemeClr val="tx1"/>
                </a:solidFill>
              </a:rPr>
              <a:t>detalles</a:t>
            </a:r>
            <a:r>
              <a:rPr dirty="0">
                <a:solidFill>
                  <a:schemeClr val="tx1"/>
                </a:solidFill>
              </a:rPr>
              <a:t>.</a:t>
            </a:r>
          </a:p>
          <a:p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🛡 </a:t>
            </a:r>
            <a:r>
              <a:rPr dirty="0" err="1">
                <a:solidFill>
                  <a:schemeClr val="tx1"/>
                </a:solidFill>
              </a:rPr>
              <a:t>Invariante</a:t>
            </a:r>
            <a:r>
              <a:rPr dirty="0">
                <a:solidFill>
                  <a:schemeClr val="tx1"/>
                </a:solidFill>
              </a:rPr>
              <a:t>: Solo </a:t>
            </a:r>
            <a:r>
              <a:rPr dirty="0" err="1">
                <a:solidFill>
                  <a:schemeClr val="tx1"/>
                </a:solidFill>
              </a:rPr>
              <a:t>agrega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detalles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aprobados</a:t>
            </a:r>
            <a:r>
              <a:rPr dirty="0">
                <a:solidFill>
                  <a:schemeClr val="tx1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31520" y="365760"/>
            <a:ext cx="10728655" cy="36576"/>
          </a:xfrm>
          <a:prstGeom prst="rect">
            <a:avLst/>
          </a:prstGeom>
          <a:solidFill>
            <a:srgbClr val="059669"/>
          </a:solidFill>
          <a:ln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38912"/>
            <a:ext cx="10058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59669"/>
                </a:solidFill>
              </a:defRPr>
            </a:pPr>
            <a:r>
              <a:t>PILAR 3 • DEMOSTRACIÓN TÉCNICA EN 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4D33"/>
                </a:solidFill>
              </a:defRPr>
            </a:pPr>
            <a:r>
              <a:t>Construcción de Objetos y Validación en Vivo (Main.java)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0080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ESPAM MFL • POO (CDS-0201) • HackathonPOO Grupo 0 (Docente Modelo)                                                                5 / 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6217920" cy="4663440"/>
          </a:xfrm>
          <a:prstGeom prst="roundRect">
            <a:avLst/>
          </a:prstGeom>
          <a:solidFill>
            <a:srgbClr val="0F172A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100" b="1">
                <a:solidFill>
                  <a:srgbClr val="34D399"/>
                </a:solidFill>
              </a:defRPr>
            </a:pPr>
            <a:r>
              <a:t>// Flujo de Ejecución en Main.java</a:t>
            </a:r>
          </a:p>
          <a:p>
            <a:pPr>
              <a:defRPr sz="1000">
                <a:solidFill>
                  <a:srgbClr val="E2E8F0"/>
                </a:solidFill>
              </a:defRPr>
            </a:pPr>
            <a:r>
              <a:t>// 1. Instanciación de componentes</a:t>
            </a:r>
            <a:br/>
            <a:r>
              <a:t>Barco barco = new Barco("Santa Isabel", 2026, 2, "MANTA");</a:t>
            </a:r>
            <a:br/>
            <a:r>
              <a:t>Camion camion = new Camion("ABC-123");</a:t>
            </a:r>
            <a:br/>
            <a:r>
              <a:t>Producto producto = new Producto("ATUN", "ALBACORA", 70, 120);</a:t>
            </a:r>
            <a:br/>
            <a:r>
              <a:t>Balanza balanza = new Balanza("192.168.1.50", "Balanza 01");</a:t>
            </a:r>
            <a:br/>
            <a:r>
              <a:t>Digitador digitador = new Digitador("Juan", "Perez", 30);</a:t>
            </a:r>
            <a:br/>
            <a:br/>
            <a:r>
              <a:t>// 2. Creación de Recepción y Detalle</a:t>
            </a:r>
            <a:br/>
            <a:r>
              <a:t>Recepcion recepcion = new Recepcion("2026-10-14", barco, camion, digitador);</a:t>
            </a:r>
            <a:br/>
            <a:r>
              <a:t>RecepcionDetalle det = new RecepcionDetalle();</a:t>
            </a:r>
            <a:br/>
            <a:r>
              <a:t>det.setProducto(producto);</a:t>
            </a:r>
            <a:br/>
            <a:r>
              <a:t>det.setBalanza(balanza);</a:t>
            </a:r>
            <a:br/>
            <a:r>
              <a:t>det.setPeso(balanza.leerPesoActual());</a:t>
            </a:r>
            <a:br/>
            <a:br/>
            <a:r>
              <a:t>// 3. Regla de Negocio</a:t>
            </a:r>
            <a:br/>
            <a:r>
              <a:t>if (det.validarPeso()) {</a:t>
            </a:r>
            <a:br/>
            <a:r>
              <a:t>    recepcion.agregarDetalle(det); // Aceptado</a:t>
            </a:r>
            <a:br/>
            <a:r>
              <a:t>} else {</a:t>
            </a:r>
            <a:br/>
            <a:r>
              <a:t>    // Fuera de rango: Rechazado</a:t>
            </a:r>
            <a:br/>
            <a: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463040"/>
            <a:ext cx="4327855" cy="137160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tlCol="0" anchor="ctr"/>
          <a:lstStyle/>
          <a:p>
            <a:pPr algn="ctr">
              <a:defRPr sz="1200" b="1">
                <a:solidFill>
                  <a:srgbClr val="15803D"/>
                </a:solidFill>
              </a:defRPr>
            </a:pPr>
            <a:r>
              <a:t>✅ Caso Válido (Peso: 94.2 Lb)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Cumple 70 &lt;= 94.2 &lt;= 120 -&gt; Se agrega a la recepción con éxito.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2971800"/>
            <a:ext cx="4327855" cy="137160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09728" rtlCol="0" anchor="ctr"/>
          <a:lstStyle/>
          <a:p>
            <a:pPr algn="ctr">
              <a:defRPr sz="1200" b="1">
                <a:solidFill>
                  <a:srgbClr val="B91C1C"/>
                </a:solidFill>
              </a:defRPr>
            </a:pPr>
            <a:r>
              <a:t>❌ Caso Inválido (Peso: 135.0 Lb)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Excede el rango máximo -&gt; El sistema bloquea el pesaje y alerta en consola.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0" y="4480560"/>
            <a:ext cx="4327855" cy="164592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04D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200" b="1">
                <a:solidFill>
                  <a:srgbClr val="004D33"/>
                </a:solidFill>
              </a:defRPr>
            </a:pPr>
            <a:r>
              <a:t>💡 Claves Demostradas en la Demo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Encapsulamiento real con invariantes activas.</a:t>
            </a:r>
            <a:br/>
            <a:r>
              <a:t>• Trazabilidad total del lote pesquero.</a:t>
            </a:r>
            <a:br/>
            <a:r>
              <a:t>• Código legible, modular y listo para producción.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746</Words>
  <Application>Microsoft Office PowerPoint</Application>
  <PresentationFormat>Widescreen</PresentationFormat>
  <Paragraphs>59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Luiggi Alexander Jalca Saltos</cp:lastModifiedBy>
  <cp:revision>2</cp:revision>
  <dcterms:created xsi:type="dcterms:W3CDTF">2013-01-27T09:14:16Z</dcterms:created>
  <dcterms:modified xsi:type="dcterms:W3CDTF">2026-10-14T21:50:43Z</dcterms:modified>
  <cp:category/>
</cp:coreProperties>
</file>